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b37813b-fcd8-3e33-b55a-88cd9f1d66c9}">
          <p14:sldIdLst>
            <p14:sldId id="256"/>
            <p14:sldId id="257"/>
            <p14:sldId id="258"/>
            <p14:sldId id="259"/>
          </p14:sldIdLst>
        </p14:section>
        <p14:section name="Solution" id="{e07ebc17-10ff-bd8f-f62f-96d92e9cc564}">
          <p14:sldIdLst>
            <p14:sldId id="260"/>
            <p14:sldId id="261"/>
            <p14:sldId id="262"/>
          </p14:sldIdLst>
        </p14:section>
        <p14:section name="Technology" id="{b2235320-9bae-2033-894f-d5f9b0abfd92}">
          <p14:sldIdLst>
            <p14:sldId id="263"/>
            <p14:sldId id="264"/>
            <p14:sldId id="265"/>
          </p14:sldIdLst>
        </p14:section>
        <p14:section name="Results" id="{280dfa2e-70c1-987a-99d0-e8b53bdbb55d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14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AE0FD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E3A8A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8280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Sahaaya – Your Health. Our Support.  |  Proof-of-concept prototype with simulated demo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Sahaaya – Smart Healthcare Navigation System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14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Your Health. Our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AE0FD"/>
                </a:solidFill>
              </a:rPr>
              <a:t>Digital Twin Challenge – prototype and code submission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</a:rPr>
              <a:t>Proof-of-concept prototype · all hospital data is simulated demo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card Hard to choose"/>
          <p:cNvSpPr/>
          <p:nvPr/>
        </p:nvSpPr>
        <p:spPr>
          <a:xfrm>
            <a:off x="457200" y="10515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075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Hard to choose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23317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Which nearby hospital offers the department or service you need?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Information is scattered across calls, walk-ins and separate websites</a:t>
            </a:r>
            <a:endParaRPr lang="en-US" sz="1300" dirty="0"/>
          </a:p>
        </p:txBody>
      </p:sp>
      <p:sp>
        <p:nvSpPr>
          <p:cNvPr id="7" name="card Crowding is invisible"/>
          <p:cNvSpPr/>
          <p:nvPr/>
        </p:nvSpPr>
        <p:spPr>
          <a:xfrm>
            <a:off x="3246120" y="10515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79576"/>
            <a:ext cx="64008" cy="2075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Crowding is invisible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90472"/>
            <a:ext cx="23317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Patients cannot see how busy a hospital is before travelling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Long waits and wasted trips</a:t>
            </a:r>
            <a:endParaRPr lang="en-US" sz="1300" dirty="0"/>
          </a:p>
        </p:txBody>
      </p:sp>
      <p:sp>
        <p:nvSpPr>
          <p:cNvPr id="11" name="card Slow, unclear access"/>
          <p:cNvSpPr/>
          <p:nvPr/>
        </p:nvSpPr>
        <p:spPr>
          <a:xfrm>
            <a:off x="6035040" y="10515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79576"/>
            <a:ext cx="64008" cy="2075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Slow, unclear access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90472"/>
            <a:ext cx="23317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Booking, tokens and directions live in different places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Language barriers; unclear what to do in an emergency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Sahaaya brings navigation, queue visibility, booking and emergency guidance into one simple, multilingual experience.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General problem framing based on common patient experience; no survey data was collected for this prototype.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Healthcare Use Case and Target Users</a:t>
            </a:r>
            <a:endParaRPr lang="en-US" sz="2600" dirty="0"/>
          </a:p>
        </p:txBody>
      </p:sp>
      <p:sp>
        <p:nvSpPr>
          <p:cNvPr id="3" name="card Use case: patient navigation and visit planning"/>
          <p:cNvSpPr/>
          <p:nvPr/>
        </p:nvSpPr>
        <p:spPr>
          <a:xfrm>
            <a:off x="457200" y="105156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852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Use case: patient navigation and visit planning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4617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Find a hospital or department by name, service or a simple sentence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See a simulated picture of crowding (Digital Twin) before travelling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Book an appointment and receive a demo token; track or cancel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Get Google Maps directions and one-tap access to 112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Ask the local AI assistant simple questions in the chosen language</a:t>
            </a:r>
            <a:endParaRPr lang="en-US" sz="1400" dirty="0"/>
          </a:p>
        </p:txBody>
      </p:sp>
      <p:sp>
        <p:nvSpPr>
          <p:cNvPr id="7" name="card Target users"/>
          <p:cNvSpPr/>
          <p:nvPr/>
        </p:nvSpPr>
        <p:spPr>
          <a:xfrm>
            <a:off x="5577840" y="105156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179576"/>
            <a:ext cx="64008" cy="2852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1247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Target users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490472"/>
            <a:ext cx="2788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Patients and families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People who prefer Telugu, Hindi, Tamil or Kannada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Caregivers planning a visit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Future (not built): hospital front-desk and administrators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Current Approaches and Gaps</a:t>
            </a:r>
            <a:endParaRPr lang="en-US" sz="2600" dirty="0"/>
          </a:p>
        </p:txBody>
      </p:sp>
      <p:sp>
        <p:nvSpPr>
          <p:cNvPr id="3" name="card How people usually find care today"/>
          <p:cNvSpPr/>
          <p:nvPr/>
        </p:nvSpPr>
        <p:spPr>
          <a:xfrm>
            <a:off x="457200" y="10515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670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How people usually find care today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370332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Phone calls and walk-ins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Individual hospital websites or apps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Paper or counter tokens on arrival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Word of mouth</a:t>
            </a:r>
            <a:endParaRPr lang="en-US" sz="1400" dirty="0"/>
          </a:p>
        </p:txBody>
      </p:sp>
      <p:sp>
        <p:nvSpPr>
          <p:cNvPr id="7" name="card Gaps Sahaaya targets"/>
          <p:cNvSpPr/>
          <p:nvPr/>
        </p:nvSpPr>
        <p:spPr>
          <a:xfrm>
            <a:off x="4663440" y="105156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79576"/>
            <a:ext cx="64008" cy="2670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Gaps Sahaaya targets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0472"/>
            <a:ext cx="370332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No single view across hospitals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No visibility of crowding before travelling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Booking, token and directions are separate steps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Limited language support and unclear emergency guidance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General observation, not a market survey or a comparison with specific products.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The Sahaaya Solution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  Search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0020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Hospitals, departments and services; works with plain sentences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42032" y="109728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1887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2  Understand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60020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Digital Twin shows simulated queue, wait and beds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26864" y="109728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11887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3  Book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160020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Appointment and token saved in the database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11696" y="109728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21424" y="11887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4  Go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160020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Google Maps directions; one-tap 112 for emergencies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FFE"/>
          </a:solidFill>
          <a:ln w="12700">
            <a:solidFill>
              <a:srgbClr val="BAE0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8A"/>
                </a:solidFill>
              </a:rPr>
              <a:t>Sahaaya Assistant (local AI) answers questions from the prototype data, in English, Telugu, Hindi, Tamil or Kannada. Emergency messages always get a fixed "Call 112" warning – the AI is never asked.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3" name="card 11 screens"/>
          <p:cNvSpPr/>
          <p:nvPr/>
        </p:nvSpPr>
        <p:spPr>
          <a:xfrm>
            <a:off x="457200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25296"/>
            <a:ext cx="64008" cy="1161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11 screens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Home to Multi-Language, one flow</a:t>
            </a:r>
            <a:endParaRPr lang="en-US" sz="1300" dirty="0"/>
          </a:p>
        </p:txBody>
      </p:sp>
      <p:sp>
        <p:nvSpPr>
          <p:cNvPr id="7" name="card Smart search"/>
          <p:cNvSpPr/>
          <p:nvPr/>
        </p:nvSpPr>
        <p:spPr>
          <a:xfrm>
            <a:off x="2542032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225296"/>
            <a:ext cx="64008" cy="1161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4912" y="1170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Smart 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15361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Backend search incl. sentences</a:t>
            </a:r>
            <a:endParaRPr lang="en-US" sz="1300" dirty="0"/>
          </a:p>
        </p:txBody>
      </p:sp>
      <p:sp>
        <p:nvSpPr>
          <p:cNvPr id="11" name="card Accounts"/>
          <p:cNvSpPr/>
          <p:nvPr/>
        </p:nvSpPr>
        <p:spPr>
          <a:xfrm>
            <a:off x="4626864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225296"/>
            <a:ext cx="64008" cy="1161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9744" y="1170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Accounts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15361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Signup/login, scrypt-hashed passwords</a:t>
            </a:r>
            <a:endParaRPr lang="en-US" sz="1300" dirty="0"/>
          </a:p>
        </p:txBody>
      </p:sp>
      <p:sp>
        <p:nvSpPr>
          <p:cNvPr id="15" name="card Booking + tokens"/>
          <p:cNvSpPr/>
          <p:nvPr/>
        </p:nvSpPr>
        <p:spPr>
          <a:xfrm>
            <a:off x="6711696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1696" y="1225296"/>
            <a:ext cx="64008" cy="1161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94576" y="11704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Booking + tokens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15361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Saved in SQLite; cancel frees token</a:t>
            </a:r>
            <a:endParaRPr lang="en-US" sz="1300" dirty="0"/>
          </a:p>
        </p:txBody>
      </p:sp>
      <p:sp>
        <p:nvSpPr>
          <p:cNvPr id="19" name="card Digital Twin"/>
          <p:cNvSpPr/>
          <p:nvPr/>
        </p:nvSpPr>
        <p:spPr>
          <a:xfrm>
            <a:off x="457200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25496"/>
            <a:ext cx="64008" cy="1161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70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Digital Twin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363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Simulated queue, beds, doctors</a:t>
            </a:r>
            <a:endParaRPr lang="en-US" sz="1300" dirty="0"/>
          </a:p>
        </p:txBody>
      </p:sp>
      <p:sp>
        <p:nvSpPr>
          <p:cNvPr id="23" name="card Local AI"/>
          <p:cNvSpPr/>
          <p:nvPr/>
        </p:nvSpPr>
        <p:spPr>
          <a:xfrm>
            <a:off x="2542032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2032" y="2825496"/>
            <a:ext cx="64008" cy="1161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24912" y="2770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Local AI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724912" y="31363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LM Studio, no API keys</a:t>
            </a:r>
            <a:endParaRPr lang="en-US" sz="1300" dirty="0"/>
          </a:p>
        </p:txBody>
      </p:sp>
      <p:sp>
        <p:nvSpPr>
          <p:cNvPr id="27" name="card Emergency"/>
          <p:cNvSpPr/>
          <p:nvPr/>
        </p:nvSpPr>
        <p:spPr>
          <a:xfrm>
            <a:off x="4626864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825496"/>
            <a:ext cx="64008" cy="11612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9744" y="2770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Emergency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09744" y="31363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tel:112 + safety reply</a:t>
            </a:r>
            <a:endParaRPr lang="en-US" sz="1300" dirty="0"/>
          </a:p>
        </p:txBody>
      </p:sp>
      <p:sp>
        <p:nvSpPr>
          <p:cNvPr id="31" name="card Voice + 5 languages"/>
          <p:cNvSpPr/>
          <p:nvPr/>
        </p:nvSpPr>
        <p:spPr>
          <a:xfrm>
            <a:off x="6711696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11696" y="2825496"/>
            <a:ext cx="64008" cy="1161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94576" y="27706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Voice + 5 languages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94576" y="3136392"/>
            <a:ext cx="1600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Browser speech recognition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Digital Twin Prototype – Simulation Concept</a:t>
            </a:r>
            <a:endParaRPr lang="en-US" sz="2600" dirty="0"/>
          </a:p>
        </p:txBody>
      </p:sp>
      <p:sp>
        <p:nvSpPr>
          <p:cNvPr id="3" name="card SIMULATED (backend/twin.js)"/>
          <p:cNvSpPr/>
          <p:nvPr/>
        </p:nvSpPr>
        <p:spPr>
          <a:xfrm>
            <a:off x="457200" y="105156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075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SIMULATED (backend/twin.js)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37033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Walk-in queue: daily demand curve (peaks near 11 AM and 6 PM) plus smooth variation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Beds free and doctors on duty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Estimated wait = people waiting x minutes per patient / doctors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Crowding level: Low, Moderate or High</a:t>
            </a:r>
            <a:endParaRPr lang="en-US" sz="1300" dirty="0"/>
          </a:p>
        </p:txBody>
      </p:sp>
      <p:sp>
        <p:nvSpPr>
          <p:cNvPr id="7" name="card REAL (from the database)"/>
          <p:cNvSpPr/>
          <p:nvPr/>
        </p:nvSpPr>
        <p:spPr>
          <a:xfrm>
            <a:off x="4663440" y="105156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79576"/>
            <a:ext cx="64008" cy="20756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REAL (from the database)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0472"/>
            <a:ext cx="370332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Tokens booked through Sahaaya today are counted and added to the queue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Appointments, tokens and accounts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Not registered with any hospital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Replaceable by design: a real deployment would swap the simulate() function for verified hospital feeds without changing the rest of the app.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Labelled SIMULATED in the app. No machine-learning model is used for the twin.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AI Assistant – Details</a:t>
            </a:r>
            <a:endParaRPr lang="en-US" sz="2600" dirty="0"/>
          </a:p>
        </p:txBody>
      </p:sp>
      <p:sp>
        <p:nvSpPr>
          <p:cNvPr id="3" name="card Framework and models"/>
          <p:cNvSpPr/>
          <p:nvPr/>
        </p:nvSpPr>
        <p:spPr>
          <a:xfrm>
            <a:off x="457200" y="10515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852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Framework and models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2331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LM Studio local server (OpenAI-compatible, localhost:1234)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Tried in order: gemma-3-1b-it, qwen3.5-0.8b, llama-3.2-1b-instruct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 API keys; no cloud calls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 training or fine-tuning</a:t>
            </a:r>
            <a:endParaRPr lang="en-US" sz="1250" dirty="0"/>
          </a:p>
        </p:txBody>
      </p:sp>
      <p:sp>
        <p:nvSpPr>
          <p:cNvPr id="7" name="card How it answers"/>
          <p:cNvSpPr/>
          <p:nvPr/>
        </p:nvSpPr>
        <p:spPr>
          <a:xfrm>
            <a:off x="3246120" y="10515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79576"/>
            <a:ext cx="64008" cy="2852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How it answers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90472"/>
            <a:ext cx="2331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System prompt sets rules: use only given facts, no diagnosis, no medicines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Hospital facts and twin numbers from the database are added as context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Short answers, temperature 0.3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Natural-language search as keyword fallback</a:t>
            </a:r>
            <a:endParaRPr lang="en-US" sz="1250" dirty="0"/>
          </a:p>
        </p:txBody>
      </p:sp>
      <p:sp>
        <p:nvSpPr>
          <p:cNvPr id="11" name="card Safety and fallbacks"/>
          <p:cNvSpPr/>
          <p:nvPr/>
        </p:nvSpPr>
        <p:spPr>
          <a:xfrm>
            <a:off x="6035040" y="105156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79576"/>
            <a:ext cx="64008" cy="2852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Safety and fallbacks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90472"/>
            <a:ext cx="23317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Emergency phrases (5 languages): fixed Call 112 reply before any model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Every AI answer labelled AI-generated; can make mistakes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AI off: keyword answer or automatic summary, no crash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Small models: weak in Telugu, Tamil, Kannada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Technical Stack</a:t>
            </a:r>
            <a:endParaRPr lang="en-US" sz="2600" dirty="0"/>
          </a:p>
        </p:txBody>
      </p:sp>
      <p:sp>
        <p:nvSpPr>
          <p:cNvPr id="3" name="card Frontend"/>
          <p:cNvSpPr/>
          <p:nvPr/>
        </p:nvSpPr>
        <p:spPr>
          <a:xfrm>
            <a:off x="457200" y="10515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1527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23317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HTML, CSS, vanilla JavaScript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Tailwind CSS and Font Awesome (CDN)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Web Speech API</a:t>
            </a:r>
            <a:endParaRPr lang="en-US" sz="1250" dirty="0"/>
          </a:p>
        </p:txBody>
      </p:sp>
      <p:sp>
        <p:nvSpPr>
          <p:cNvPr id="7" name="card Backend"/>
          <p:cNvSpPr/>
          <p:nvPr/>
        </p:nvSpPr>
        <p:spPr>
          <a:xfrm>
            <a:off x="3246120" y="10515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79576"/>
            <a:ext cx="64008" cy="1527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490472"/>
            <a:ext cx="23317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Node.js 22.13+ and Express 4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REST JSON API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scrypt password hashing</a:t>
            </a:r>
            <a:endParaRPr lang="en-US" sz="1250" dirty="0"/>
          </a:p>
        </p:txBody>
      </p:sp>
      <p:sp>
        <p:nvSpPr>
          <p:cNvPr id="11" name="card Data"/>
          <p:cNvSpPr/>
          <p:nvPr/>
        </p:nvSpPr>
        <p:spPr>
          <a:xfrm>
            <a:off x="6035040" y="10515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79576"/>
            <a:ext cx="64008" cy="1527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124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90472"/>
            <a:ext cx="23317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SQLite via built-in node:sqlite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Tables: users, sessions, hospitals, departments, doctors, appointments, tokens</a:t>
            </a:r>
            <a:endParaRPr lang="en-US" sz="1250" dirty="0"/>
          </a:p>
        </p:txBody>
      </p:sp>
      <p:sp>
        <p:nvSpPr>
          <p:cNvPr id="15" name="card AI"/>
          <p:cNvSpPr/>
          <p:nvPr/>
        </p:nvSpPr>
        <p:spPr>
          <a:xfrm>
            <a:off x="457200" y="3017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45536"/>
            <a:ext cx="64008" cy="9784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906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56432"/>
            <a:ext cx="3703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LM Studio local server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Gemma 3 1B, Qwen 3.5 0.8B, Llama 3.2 1B (optional)</a:t>
            </a:r>
            <a:endParaRPr lang="en-US" sz="1250" dirty="0"/>
          </a:p>
        </p:txBody>
      </p:sp>
      <p:sp>
        <p:nvSpPr>
          <p:cNvPr id="19" name="card Maps and services"/>
          <p:cNvSpPr/>
          <p:nvPr/>
        </p:nvSpPr>
        <p:spPr>
          <a:xfrm>
            <a:off x="4663440" y="3017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145536"/>
            <a:ext cx="64008" cy="9784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906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Maps and services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456432"/>
            <a:ext cx="3703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Google Maps direction links (no API key)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</a:rPr>
              <a:t>No paid APIs; no API keys anywhere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System Architecture (as implemented)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Browser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index.html, style.css, script.js; speech recognition; Google Maps links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11880" y="118872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03320" y="12344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Express backend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Routes: auth, hospitals, appointments, twin, ai; also serves the frontend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0515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097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SQLite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users, hospitals, appointments, tokens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0" y="24688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25146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LM Studio (optional)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localhost:1234, local models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2194560"/>
            <a:ext cx="77724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0760" y="164592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3017520"/>
            <a:ext cx="68580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834640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REST /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35661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033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</a:rPr>
              <a:t>twin.js (simulation)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Simulated state + real token count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0" cy="3657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Full diagram: docs/Sahaaya-Architecture-Diagram.pdf. LM Studio is called only by the backend on localhost.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Demo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2070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Home: search "Which hospital has cardiology?"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42032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2070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Hospital Details: Digital Twin card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26864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2070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Explain with AI (labelled AI-generated)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11696" y="10972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12070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1424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16642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Sign up / log 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2644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Book appointment, receive token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42032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2644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Appointments: token status, cancel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26864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36592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736592" y="32644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Assistant; type "chest pain" for the 112 warning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11696" y="269748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21424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21424" y="3264408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Switch language; Google Maps directions; AI-off fallback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Expected and Observed Outcomes</a:t>
            </a:r>
            <a:endParaRPr lang="en-US" sz="2600" dirty="0"/>
          </a:p>
        </p:txBody>
      </p:sp>
      <p:sp>
        <p:nvSpPr>
          <p:cNvPr id="3" name="card Expected (hypotheses, not measured)"/>
          <p:cNvSpPr/>
          <p:nvPr/>
        </p:nvSpPr>
        <p:spPr>
          <a:xfrm>
            <a:off x="45720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852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Expected (hypotheses, not measured)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3703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Faster discovery of the right hospital or department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Fewer wasted trips when crowding is visible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A clearer emergency path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Better access for local-language users</a:t>
            </a:r>
            <a:endParaRPr lang="en-US" sz="1350" dirty="0"/>
          </a:p>
        </p:txBody>
      </p:sp>
      <p:sp>
        <p:nvSpPr>
          <p:cNvPr id="7" name="card Observed in prototype testing"/>
          <p:cNvSpPr/>
          <p:nvPr/>
        </p:nvSpPr>
        <p:spPr>
          <a:xfrm>
            <a:off x="466344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79576"/>
            <a:ext cx="64008" cy="2852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Observed in prototype testing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0472"/>
            <a:ext cx="3703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All 11 screens, booking, token and cancel work; data survives a server restart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Local AI answered in about 5 seconds on the developer laptop (informal observation)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Emergency messages always show the 112 warning, without calling the model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With the AI off, the app falls back gracefully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</a:rPr>
              <a:t>No real-world pilot or user study yet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Limitations and Future Scope</a:t>
            </a:r>
            <a:endParaRPr lang="en-US" sz="2600" dirty="0"/>
          </a:p>
        </p:txBody>
      </p:sp>
      <p:sp>
        <p:nvSpPr>
          <p:cNvPr id="3" name="card Limitations"/>
          <p:cNvSpPr/>
          <p:nvPr/>
        </p:nvSpPr>
        <p:spPr>
          <a:xfrm>
            <a:off x="45720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852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3703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Hospital data, waiting time, beds, doctors and token availability are simulated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Not connected to any live hospital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Small local models make mistakes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Interface translations cover main labels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Map picture is a labelled demo; no live GPS or traffic</a:t>
            </a:r>
            <a:endParaRPr lang="en-US" sz="1300" dirty="0"/>
          </a:p>
        </p:txBody>
      </p:sp>
      <p:sp>
        <p:nvSpPr>
          <p:cNvPr id="7" name="card Future scope (not implemented)"/>
          <p:cNvSpPr/>
          <p:nvPr/>
        </p:nvSpPr>
        <p:spPr>
          <a:xfrm>
            <a:off x="466344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79576"/>
            <a:ext cx="64008" cy="2852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Future scope (not implemented)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0472"/>
            <a:ext cx="3703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Real hospital data from verified sources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OpenStreetMap-based location services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Real hospital APIs and real-time availability where officially available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Better multilingual voice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Production authentication and security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Scalable cloud deployment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Demo-Data Disclaimer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2400E"/>
                </a:solidFill>
              </a:rPr>
              <a:t>Demo data – hospital availability, waiting time and token information are simulated for this prototype.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78350F"/>
                </a:solidFill>
              </a:rPr>
              <a:t>Hospital names, doctors, addresses and timings are sample data (Bhimavaram demo set)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78350F"/>
                </a:solidFill>
              </a:rPr>
              <a:t>Waiting time, beds, doctors on duty and token availability are simulated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78350F"/>
                </a:solidFill>
              </a:rPr>
              <a:t>Tokens exist only inside Sahaaya and are not registered with any hospital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78350F"/>
                </a:solidFill>
              </a:rPr>
              <a:t>AI explanations are generated from this prototype data and can be wrong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78350F"/>
                </a:solidFill>
              </a:rPr>
              <a:t>Not connected to live hospital databases. Not medical advice. In an emergency call 112.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Team and Institution</a:t>
            </a:r>
            <a:endParaRPr lang="en-US" sz="2600" dirty="0"/>
          </a:p>
        </p:txBody>
      </p:sp>
      <p:sp>
        <p:nvSpPr>
          <p:cNvPr id="3" name="card Team details"/>
          <p:cNvSpPr/>
          <p:nvPr/>
        </p:nvSpPr>
        <p:spPr>
          <a:xfrm>
            <a:off x="45720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9576"/>
            <a:ext cx="64008" cy="2852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Team details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90472"/>
            <a:ext cx="3703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Team name: [FILL IN]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Member 1 and role: [FILL IN]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Member 2 and role: [FILL IN]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Contact email: [FILL IN]</a:t>
            </a:r>
            <a:endParaRPr lang="en-US" sz="1400" dirty="0"/>
          </a:p>
        </p:txBody>
      </p:sp>
      <p:sp>
        <p:nvSpPr>
          <p:cNvPr id="7" name="card College / Incubator"/>
          <p:cNvSpPr/>
          <p:nvPr/>
        </p:nvSpPr>
        <p:spPr>
          <a:xfrm>
            <a:off x="4663440" y="10515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79576"/>
            <a:ext cx="64008" cy="2852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247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College / Incubator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0472"/>
            <a:ext cx="37033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College or institution: [FILL IN]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Department / programme: [FILL IN]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City, state: [FILL IN]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Incubator (if any): [FILL IN]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haaya">
  <a:themeElements>
    <a:clrScheme name="Sahaaya">
      <a:dk1>
        <a:srgbClr val="0F172A"/>
      </a:dk1>
      <a:lt1>
        <a:srgbClr val="FFFFFF"/>
      </a:lt1>
      <a:dk2>
        <a:srgbClr val="1E3A8A"/>
      </a:dk2>
      <a:lt2>
        <a:srgbClr val="F0F7FF"/>
      </a:lt2>
      <a:accent1>
        <a:srgbClr val="2563EB"/>
      </a:accent1>
      <a:accent2>
        <a:srgbClr val="0D9488"/>
      </a:accent2>
      <a:accent3>
        <a:srgbClr val="F59E0B"/>
      </a:accent3>
      <a:accent4>
        <a:srgbClr val="DC2626"/>
      </a:accent4>
      <a:accent5>
        <a:srgbClr val="64748B"/>
      </a:accent5>
      <a:accent6>
        <a:srgbClr val="7C3AED"/>
      </a:accent6>
      <a:hlink>
        <a:srgbClr val="2563EB"/>
      </a:hlink>
      <a:folHlink>
        <a:srgbClr val="7C3AED"/>
      </a:folHlink>
    </a:clrScheme>
    <a:fontScheme name="Sahaay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Sahaaya – Smart Healthcare Navigation System</dc:title>
  <dc:subject>Digital Twin Challenge submission</dc:subject>
  <dc:creator>Sahaaya project</dc:creator>
  <cp:lastModifiedBy>Sahaaya project</cp:lastModifiedBy>
  <cp:revision>1</cp:revision>
  <dcterms:created xsi:type="dcterms:W3CDTF">2026-10-24T06:16:59Z</dcterms:created>
  <dcterms:modified xsi:type="dcterms:W3CDTF">2026-10-24T06:16:59Z</dcterms:modified>
</cp:coreProperties>
</file>